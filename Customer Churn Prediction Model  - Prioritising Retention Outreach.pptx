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60" r:id="rId4"/>
    <p:sldId id="259" r:id="rId5"/>
    <p:sldId id="262" r:id="rId6"/>
    <p:sldId id="263" r:id="rId7"/>
    <p:sldId id="267" r:id="rId8"/>
    <p:sldId id="269" r:id="rId9"/>
    <p:sldId id="264" r:id="rId10"/>
    <p:sldId id="266" r:id="rId11"/>
    <p:sldId id="25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68" d="100"/>
          <a:sy n="68" d="100"/>
        </p:scale>
        <p:origin x="24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9AEBA4-D9AB-4432-883E-C1F1873BB225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46588F-E0FF-4AC1-8A6B-FBD010AD25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1341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leakage if used to make any decisions with the modelling later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46588F-E0FF-4AC1-8A6B-FBD010AD259D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3449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E03DF-399F-ABB8-531B-FFF1C40FE4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CCCDAA-C800-D01D-5D6C-84641DCD64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1AB7DB-4F19-4E72-2F67-568E0F35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56B21-1036-4B1C-B949-6C32DFD7D502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3BED47-05BC-BEF5-AC93-BC8C965DF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F3D72-2102-58DB-C5B4-86ED255EA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55EB5-7D9C-492D-922E-FBAE46CE41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1042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E6EFE-0ECC-A595-71D3-D858221FD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DE22F-6D82-B3FB-ADB5-B8D8BD6194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07C45-4AC8-6BEA-1EF9-9079A8A6D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56B21-1036-4B1C-B949-6C32DFD7D502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48D89F-A768-971E-8A68-CC688B21A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B00B8-91DE-2B74-0F8E-61CD252FD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55EB5-7D9C-492D-922E-FBAE46CE41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5993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818F6-B147-ED4D-99A1-D81A80718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839C58-98AD-7FAD-B42F-F950B8944B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17EB0-D970-98A0-6DE0-ED8518BBA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56B21-1036-4B1C-B949-6C32DFD7D502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FBC6C-78D5-3CD3-BB98-B1BA89FBF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A690B-A15F-FE7F-695C-382FA455C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55EB5-7D9C-492D-922E-FBAE46CE41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0835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57EC7-87D7-58FF-A107-0855E1051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C8702-E469-98D4-412E-843521638F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39AE3-A418-5735-4FAC-8F6E2EEEA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445D43-5B43-86D1-9008-AA06A83EB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56B21-1036-4B1C-B949-6C32DFD7D502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9268A7-A59E-E9A4-9BC1-1B4281774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40FF2-187D-6396-16E9-28384B522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55EB5-7D9C-492D-922E-FBAE46CE41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1818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11327-A74F-298E-B720-62D94C3EC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948531-186D-B9C5-5373-03CB61F0E5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B00923-D143-E280-2D88-4648F158CB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63757A-C72B-3F49-15BF-86A1B5DA9E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35A259-6FF1-A060-6C02-05A353556A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38C08B-51D1-5D00-30A6-EAE87A59A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56B21-1036-4B1C-B949-6C32DFD7D502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966F3B-3163-65A1-6338-883A4DBCE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1A75AD-75AB-9671-79D2-D16E9D8DE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55EB5-7D9C-492D-922E-FBAE46CE41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7080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59816-E02C-69B5-BAD2-5F98ED279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3D9C6D-DD61-4D47-186D-BD0973074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56B21-1036-4B1C-B949-6C32DFD7D502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8A02ED-7DA5-4DCD-8980-9CE319D08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429AED-B5A1-F580-4E6B-96E885E81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55EB5-7D9C-492D-922E-FBAE46CE41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9743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0276D5-E1A2-0009-5E3B-449AC5BC0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56B21-1036-4B1C-B949-6C32DFD7D502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53BED1-3CF3-C4CF-B0E1-B3F305C63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43B081-3507-76E0-0C44-40D604C15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55EB5-7D9C-492D-922E-FBAE46CE41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1000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0D2DA-6A9C-46E7-CCAA-3ECC8F6D0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EE445-EDB9-FDA9-7038-5E4491B41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E71189-249C-86C0-0A29-05E1ABAAA8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07A669-63A0-0DDA-F68F-582F4318D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56B21-1036-4B1C-B949-6C32DFD7D502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1C5192-A2B4-22BA-BD96-5ACD7349F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227BBF-C367-337F-2545-FCBCBC9CD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55EB5-7D9C-492D-922E-FBAE46CE41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7703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4043A-54AA-87FD-BB01-2D0F37E3D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C81CD6-CC35-9C56-7400-490EF06FB6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A86EC7-2BF3-0CA0-73B8-6984DDAC64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5FBC0C-DBF2-723F-F796-4170D4D6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56B21-1036-4B1C-B949-6C32DFD7D502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249884-7DD0-0160-2138-18FF4D6BE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2E41C4-08E3-985A-B030-1E5E03877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55EB5-7D9C-492D-922E-FBAE46CE41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0504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0DABA-D01F-3DD9-8426-0E65C279D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DB5817-C6AD-B84B-81BE-71E0C0B6FB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D4797-5244-260D-CCC9-4F8191CB3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56B21-1036-4B1C-B949-6C32DFD7D502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A56AF-E982-EE8E-4CA6-AEF09FB7A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EC2CE-9037-D9A4-6263-2ACDE8E6E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55EB5-7D9C-492D-922E-FBAE46CE41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4829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67C92D-B4EA-C2BB-8C50-DD445E9C5A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6E70BE-52FE-EDDA-638A-54AD06E530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4FE38-A9B8-D230-1FF3-EB4895771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56B21-1036-4B1C-B949-6C32DFD7D502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F0BE5-0DEF-D7C5-2A7D-8423E8719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ECC06-8B63-0DF8-7C02-B20C8B5C6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55EB5-7D9C-492D-922E-FBAE46CE41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1833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39F07C-60A9-FAD9-5598-DE131D3F7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020BC3-41D1-3D59-A2BD-7F6D39A3B7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A3843-7179-B41A-C378-60A1CFD50B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756B21-1036-4B1C-B949-6C32DFD7D502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EACC3-8705-9451-D820-C978F3DF5C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7920B-A0E1-6642-E8E1-2E9CD00CC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055EB5-7D9C-492D-922E-FBAE46CE41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0452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ECAA3-71D4-4F01-B66A-E4C2B5FF07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/>
              <a:t>Customer Churn Prediction Model  - </a:t>
            </a:r>
            <a:r>
              <a:rPr lang="en-US" dirty="0" err="1"/>
              <a:t>Prioritising</a:t>
            </a:r>
            <a:r>
              <a:rPr lang="en-US" dirty="0"/>
              <a:t> Retention Outreach with Machine Learning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5D572A-E474-D4D4-4671-A34D3E7A4E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61694"/>
            <a:ext cx="9144000" cy="1655762"/>
          </a:xfrm>
        </p:spPr>
        <p:txBody>
          <a:bodyPr/>
          <a:lstStyle/>
          <a:p>
            <a:r>
              <a:rPr lang="en-US" dirty="0"/>
              <a:t>Jack Kelly | 17</a:t>
            </a:r>
            <a:r>
              <a:rPr lang="en-US" baseline="30000" dirty="0"/>
              <a:t>th</a:t>
            </a:r>
            <a:r>
              <a:rPr lang="en-US" dirty="0"/>
              <a:t> March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91730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04029-5D03-EACF-3295-8A1D2747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Business Problem &amp; Objective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BE566-5824-B343-776A-532E0C112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r>
              <a:rPr lang="en-US" dirty="0"/>
              <a:t>Context: Retention is a strategic priority for the upcoming year</a:t>
            </a:r>
          </a:p>
          <a:p>
            <a:r>
              <a:rPr lang="en-US" dirty="0"/>
              <a:t>Problem: Contacting all customers is inefficient and expensive</a:t>
            </a:r>
          </a:p>
          <a:p>
            <a:r>
              <a:rPr lang="en-US" dirty="0"/>
              <a:t>Goal: Identify the </a:t>
            </a:r>
            <a:r>
              <a:rPr lang="en-US" i="1" dirty="0"/>
              <a:t>right</a:t>
            </a:r>
            <a:r>
              <a:rPr lang="en-US" dirty="0"/>
              <a:t> customers to call, those most likely to leave</a:t>
            </a:r>
          </a:p>
          <a:p>
            <a:r>
              <a:rPr lang="en-US" dirty="0"/>
              <a:t>Output: A ranked, scored list of at-risk customers for the retention team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23228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B5FAA16-EAD0-9BB2-9D18-D762E079C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153" y="84406"/>
            <a:ext cx="10543693" cy="6689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763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AC63B-43DC-7241-A6B1-5BE21A923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1" y="53862"/>
            <a:ext cx="10515600" cy="1325563"/>
          </a:xfrm>
        </p:spPr>
        <p:txBody>
          <a:bodyPr/>
          <a:lstStyle/>
          <a:p>
            <a:r>
              <a:rPr lang="en-US" b="1" dirty="0"/>
              <a:t>Data Overview</a:t>
            </a:r>
            <a:endParaRPr lang="en-GB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F7953E9-44A3-2C14-14E8-8855ED1315C6}"/>
              </a:ext>
            </a:extLst>
          </p:cNvPr>
          <p:cNvSpPr/>
          <p:nvPr/>
        </p:nvSpPr>
        <p:spPr>
          <a:xfrm>
            <a:off x="759654" y="2033218"/>
            <a:ext cx="1505244" cy="8440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/>
              <a:t>customer_df</a:t>
            </a:r>
            <a:endParaRPr lang="en-US" sz="1200" b="1" dirty="0"/>
          </a:p>
          <a:p>
            <a:pPr algn="ctr"/>
            <a:r>
              <a:rPr lang="en-US" sz="1200" dirty="0"/>
              <a:t>Active customers by month</a:t>
            </a:r>
            <a:endParaRPr lang="en-GB" sz="12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13CF934-87CD-668D-F8E3-0C77B6E9C1C4}"/>
              </a:ext>
            </a:extLst>
          </p:cNvPr>
          <p:cNvSpPr/>
          <p:nvPr/>
        </p:nvSpPr>
        <p:spPr>
          <a:xfrm>
            <a:off x="2672860" y="3151487"/>
            <a:ext cx="1505244" cy="8440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/>
              <a:t>cease_df</a:t>
            </a:r>
            <a:endParaRPr lang="en-US" sz="1200" b="1" dirty="0"/>
          </a:p>
          <a:p>
            <a:pPr algn="ctr"/>
            <a:r>
              <a:rPr lang="en-US" sz="1200" dirty="0"/>
              <a:t>Cancellation records</a:t>
            </a:r>
            <a:endParaRPr lang="en-GB" sz="12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747ECBB-A7BF-D9FC-5FB4-171AEC86157F}"/>
              </a:ext>
            </a:extLst>
          </p:cNvPr>
          <p:cNvSpPr/>
          <p:nvPr/>
        </p:nvSpPr>
        <p:spPr>
          <a:xfrm>
            <a:off x="759654" y="3151487"/>
            <a:ext cx="1505244" cy="8440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/>
              <a:t>calls_df</a:t>
            </a:r>
            <a:endParaRPr lang="en-US" sz="1200" b="1" dirty="0"/>
          </a:p>
          <a:p>
            <a:pPr algn="ctr"/>
            <a:r>
              <a:rPr lang="en-US" sz="1200" dirty="0"/>
              <a:t>Call </a:t>
            </a:r>
            <a:r>
              <a:rPr lang="en-US" sz="1200" dirty="0" err="1"/>
              <a:t>centre</a:t>
            </a:r>
            <a:r>
              <a:rPr lang="en-US" sz="1200" dirty="0"/>
              <a:t> events</a:t>
            </a:r>
            <a:endParaRPr lang="en-GB" sz="12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6894D19-48A0-B334-401B-E2E61F4DFEAD}"/>
              </a:ext>
            </a:extLst>
          </p:cNvPr>
          <p:cNvSpPr/>
          <p:nvPr/>
        </p:nvSpPr>
        <p:spPr>
          <a:xfrm>
            <a:off x="2672860" y="2033218"/>
            <a:ext cx="1505244" cy="8440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/>
              <a:t>usage_df</a:t>
            </a:r>
            <a:endParaRPr lang="en-US" sz="1200" b="1" dirty="0"/>
          </a:p>
          <a:p>
            <a:pPr algn="ctr"/>
            <a:r>
              <a:rPr lang="en-US" sz="1200" dirty="0"/>
              <a:t>Daily broadband usage</a:t>
            </a:r>
            <a:endParaRPr lang="en-GB" sz="12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A43696-3961-5524-EED3-738D54705B6A}"/>
              </a:ext>
            </a:extLst>
          </p:cNvPr>
          <p:cNvSpPr/>
          <p:nvPr/>
        </p:nvSpPr>
        <p:spPr>
          <a:xfrm>
            <a:off x="1119553" y="1380969"/>
            <a:ext cx="2622452" cy="545349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 sources</a:t>
            </a:r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F3DCB0-8FC3-F51C-3F69-6BBDEE9D542B}"/>
              </a:ext>
            </a:extLst>
          </p:cNvPr>
          <p:cNvSpPr/>
          <p:nvPr/>
        </p:nvSpPr>
        <p:spPr>
          <a:xfrm>
            <a:off x="5976453" y="2036523"/>
            <a:ext cx="2227943" cy="2742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3BCB648-B7EA-FCC7-B6F5-C747C19866BB}"/>
              </a:ext>
            </a:extLst>
          </p:cNvPr>
          <p:cNvSpPr/>
          <p:nvPr/>
        </p:nvSpPr>
        <p:spPr>
          <a:xfrm>
            <a:off x="8204396" y="2310731"/>
            <a:ext cx="2227943" cy="27420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50C238-BD14-F2D3-36E3-E8E6817DE69A}"/>
              </a:ext>
            </a:extLst>
          </p:cNvPr>
          <p:cNvSpPr/>
          <p:nvPr/>
        </p:nvSpPr>
        <p:spPr>
          <a:xfrm>
            <a:off x="5976453" y="400266"/>
            <a:ext cx="5014294" cy="1325563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Active customer data being monthly allows us to format the problem statement as ‘</a:t>
            </a:r>
            <a:r>
              <a:rPr lang="en-US" b="1" dirty="0"/>
              <a:t>based on the last 30 days of behavior, who is going to churn in the next 30 days?</a:t>
            </a:r>
            <a:r>
              <a:rPr lang="en-US" dirty="0"/>
              <a:t>’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2BEE87-4304-5A81-EB23-C8B460D20C86}"/>
              </a:ext>
            </a:extLst>
          </p:cNvPr>
          <p:cNvSpPr txBox="1"/>
          <p:nvPr/>
        </p:nvSpPr>
        <p:spPr>
          <a:xfrm>
            <a:off x="7420623" y="3352131"/>
            <a:ext cx="1567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Date of prediction</a:t>
            </a:r>
            <a:endParaRPr lang="en-GB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0778F7E-CC22-092B-0DDB-5D68C192156D}"/>
              </a:ext>
            </a:extLst>
          </p:cNvPr>
          <p:cNvCxnSpPr/>
          <p:nvPr/>
        </p:nvCxnSpPr>
        <p:spPr>
          <a:xfrm flipV="1">
            <a:off x="8204395" y="2732762"/>
            <a:ext cx="0" cy="619369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BAF29E7-9EF7-FD49-B39B-DB2F4DA8B726}"/>
              </a:ext>
            </a:extLst>
          </p:cNvPr>
          <p:cNvSpPr txBox="1"/>
          <p:nvPr/>
        </p:nvSpPr>
        <p:spPr>
          <a:xfrm>
            <a:off x="8421860" y="2645369"/>
            <a:ext cx="21083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+ 30 days</a:t>
            </a:r>
          </a:p>
          <a:p>
            <a:pPr algn="ctr"/>
            <a:r>
              <a:rPr lang="en-US" dirty="0"/>
              <a:t>Will user churn?</a:t>
            </a:r>
            <a:endParaRPr lang="en-GB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21BCDB-D8A0-734C-CC31-227201BF7A49}"/>
              </a:ext>
            </a:extLst>
          </p:cNvPr>
          <p:cNvSpPr txBox="1"/>
          <p:nvPr/>
        </p:nvSpPr>
        <p:spPr>
          <a:xfrm>
            <a:off x="5976452" y="2283769"/>
            <a:ext cx="21083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-30 days</a:t>
            </a:r>
          </a:p>
          <a:p>
            <a:pPr algn="ctr"/>
            <a:r>
              <a:rPr lang="en-US" dirty="0"/>
              <a:t>Generate user </a:t>
            </a:r>
            <a:r>
              <a:rPr lang="en-US" dirty="0" err="1"/>
              <a:t>behaviour</a:t>
            </a:r>
            <a:endParaRPr lang="en-US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BB21495-9753-5F3F-4297-AA8FC0D35327}"/>
              </a:ext>
            </a:extLst>
          </p:cNvPr>
          <p:cNvSpPr/>
          <p:nvPr/>
        </p:nvSpPr>
        <p:spPr>
          <a:xfrm>
            <a:off x="2988591" y="4477229"/>
            <a:ext cx="2979940" cy="2106668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Customer level features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Gap between customer purchased speed tier and actual line speed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Speed attainment below 70%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Flags for end of contract near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Length on contract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5448004-E626-193D-DF0B-C13120364530}"/>
              </a:ext>
            </a:extLst>
          </p:cNvPr>
          <p:cNvSpPr/>
          <p:nvPr/>
        </p:nvSpPr>
        <p:spPr>
          <a:xfrm>
            <a:off x="6366425" y="4464232"/>
            <a:ext cx="2108395" cy="2119665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Call </a:t>
            </a:r>
            <a:r>
              <a:rPr lang="en-US" sz="1400" b="1" dirty="0" err="1">
                <a:solidFill>
                  <a:schemeClr val="bg1"/>
                </a:solidFill>
              </a:rPr>
              <a:t>centre</a:t>
            </a:r>
            <a:r>
              <a:rPr lang="en-US" sz="1400" b="1" dirty="0">
                <a:solidFill>
                  <a:schemeClr val="bg1"/>
                </a:solidFill>
              </a:rPr>
              <a:t> features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Call types by volume and type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Hold to talk in call ratio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Changes in call length and amount over time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A643321-C906-BD6E-F991-B17610163A0A}"/>
              </a:ext>
            </a:extLst>
          </p:cNvPr>
          <p:cNvSpPr/>
          <p:nvPr/>
        </p:nvSpPr>
        <p:spPr>
          <a:xfrm>
            <a:off x="8858237" y="4621123"/>
            <a:ext cx="2368954" cy="1805881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Usage features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</a:rPr>
              <a:t>Download and upload activity levels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</a:rPr>
              <a:t>Trend in downloads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bg1"/>
                </a:solidFill>
              </a:rPr>
              <a:t>Recency of usage and number of days when not using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94C9992-B78A-36AC-FBF7-962825E556C7}"/>
              </a:ext>
            </a:extLst>
          </p:cNvPr>
          <p:cNvSpPr/>
          <p:nvPr/>
        </p:nvSpPr>
        <p:spPr>
          <a:xfrm>
            <a:off x="576774" y="1269933"/>
            <a:ext cx="3901787" cy="28276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FB985BA-A9F0-C77A-FB27-D0C5F0B4F5DF}"/>
              </a:ext>
            </a:extLst>
          </p:cNvPr>
          <p:cNvSpPr/>
          <p:nvPr/>
        </p:nvSpPr>
        <p:spPr>
          <a:xfrm>
            <a:off x="576774" y="4346917"/>
            <a:ext cx="11352629" cy="2335031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B311122-C717-AD79-5077-84A3F73939DE}"/>
              </a:ext>
            </a:extLst>
          </p:cNvPr>
          <p:cNvSpPr/>
          <p:nvPr/>
        </p:nvSpPr>
        <p:spPr>
          <a:xfrm>
            <a:off x="686780" y="4873630"/>
            <a:ext cx="2096086" cy="120680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Generate set of 60 features that include the following for each month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FF33B64-99B4-1DD0-2987-6975E0DB62AB}"/>
              </a:ext>
            </a:extLst>
          </p:cNvPr>
          <p:cNvSpPr/>
          <p:nvPr/>
        </p:nvSpPr>
        <p:spPr>
          <a:xfrm>
            <a:off x="5627077" y="253218"/>
            <a:ext cx="5734931" cy="38387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6421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7E436-FF91-7A9B-234A-5AC1D94D2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Modelling Approach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9C195-22A3-59DA-68AA-702204873C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Data is into training (Sept 2022- Dec 2023) and test (Feb 2024 – Aug 2024)</a:t>
            </a:r>
          </a:p>
          <a:p>
            <a:pPr lvl="1"/>
            <a:r>
              <a:rPr lang="en-US" dirty="0"/>
              <a:t>There is a 1 month gap of data between the train and test to ensure no data leakage between the two.</a:t>
            </a:r>
          </a:p>
          <a:p>
            <a:pPr lvl="1"/>
            <a:r>
              <a:rPr lang="en-US" dirty="0"/>
              <a:t>This leaves 2,298,139 rows in the training and 503,866 rows in the test data</a:t>
            </a:r>
          </a:p>
          <a:p>
            <a:pPr lvl="1"/>
            <a:r>
              <a:rPr lang="en-US" dirty="0"/>
              <a:t>There is a 3.8% churn rate in the training and 4.4% in test</a:t>
            </a:r>
          </a:p>
          <a:p>
            <a:pPr lvl="1"/>
            <a:endParaRPr lang="en-US" dirty="0"/>
          </a:p>
          <a:p>
            <a:r>
              <a:rPr lang="en-US" b="1" dirty="0" err="1"/>
              <a:t>XGBoost</a:t>
            </a:r>
            <a:r>
              <a:rPr lang="en-US" dirty="0"/>
              <a:t> (gradient boosted trees)</a:t>
            </a:r>
          </a:p>
          <a:p>
            <a:pPr lvl="1"/>
            <a:r>
              <a:rPr lang="en-US" dirty="0"/>
              <a:t>handles mixed data types, class imbalance, non-linear relationships, interpretable with SHAP</a:t>
            </a:r>
          </a:p>
          <a:p>
            <a:r>
              <a:rPr lang="en-US" dirty="0"/>
              <a:t>The class imbalance is the hardest technical problem in this case:</a:t>
            </a:r>
          </a:p>
          <a:p>
            <a:pPr lvl="1"/>
            <a:r>
              <a:rPr lang="en-US" dirty="0" err="1"/>
              <a:t>Regularisation</a:t>
            </a:r>
            <a:r>
              <a:rPr lang="en-US" dirty="0"/>
              <a:t> within model</a:t>
            </a:r>
          </a:p>
          <a:p>
            <a:pPr lvl="1"/>
            <a:r>
              <a:rPr lang="en-US" dirty="0"/>
              <a:t>Increase weight of incorrect classification of minority class within model learning</a:t>
            </a:r>
          </a:p>
          <a:p>
            <a:pPr lvl="1"/>
            <a:r>
              <a:rPr lang="en-US" dirty="0"/>
              <a:t>Small amount of </a:t>
            </a:r>
            <a:r>
              <a:rPr lang="en-US" dirty="0" err="1"/>
              <a:t>undersampling</a:t>
            </a:r>
            <a:r>
              <a:rPr lang="en-US" dirty="0"/>
              <a:t> of very similar data points using nearest </a:t>
            </a:r>
            <a:r>
              <a:rPr lang="en-US" dirty="0" err="1"/>
              <a:t>neighbours</a:t>
            </a:r>
            <a:endParaRPr lang="en-US" dirty="0"/>
          </a:p>
          <a:p>
            <a:r>
              <a:rPr lang="en-US" dirty="0"/>
              <a:t>Hyperparameters within the model based on experience with similar data</a:t>
            </a:r>
          </a:p>
          <a:p>
            <a:pPr lvl="1"/>
            <a:r>
              <a:rPr lang="en-US" dirty="0"/>
              <a:t>Limit complication of model through number of estimators and tree depth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1032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923C9-3315-A9CE-6484-60A2EF07A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541" y="-99109"/>
            <a:ext cx="10515600" cy="1325563"/>
          </a:xfrm>
        </p:spPr>
        <p:txBody>
          <a:bodyPr/>
          <a:lstStyle/>
          <a:p>
            <a:r>
              <a:rPr lang="en-US" b="1" dirty="0"/>
              <a:t>Model Performance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90C17-3E3D-5252-CFF0-40E5D18E0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344" y="1226454"/>
            <a:ext cx="4635550" cy="4085358"/>
          </a:xfrm>
        </p:spPr>
        <p:txBody>
          <a:bodyPr>
            <a:normAutofit/>
          </a:bodyPr>
          <a:lstStyle/>
          <a:p>
            <a:r>
              <a:rPr lang="en-US" sz="2000" dirty="0" err="1"/>
              <a:t>XGBoost</a:t>
            </a:r>
            <a:r>
              <a:rPr lang="en-US" sz="2000" dirty="0"/>
              <a:t> performs strongly with ROC AUC of 0.93</a:t>
            </a:r>
          </a:p>
          <a:p>
            <a:endParaRPr lang="en-US" sz="2000" dirty="0"/>
          </a:p>
          <a:p>
            <a:r>
              <a:rPr lang="en-US" sz="2000" dirty="0"/>
              <a:t>The precision recall curve also shows that despite the high-class imbalance the model can identify users that will churn</a:t>
            </a:r>
          </a:p>
          <a:p>
            <a:endParaRPr lang="en-US" sz="2000" dirty="0"/>
          </a:p>
          <a:p>
            <a:endParaRPr lang="en-GB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8805E7-17C4-65BF-DA5D-6E2CB07EF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6925" y="913904"/>
            <a:ext cx="6582534" cy="50301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666109D-589B-CDE0-3951-B569B10E0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893" y="3645074"/>
            <a:ext cx="4204452" cy="3212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559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E85D8-6D6A-2257-DBDD-D84A6CB6D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253FE-D51D-C9E9-6676-43242EF7D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61" y="0"/>
            <a:ext cx="10515600" cy="1325563"/>
          </a:xfrm>
        </p:spPr>
        <p:txBody>
          <a:bodyPr/>
          <a:lstStyle/>
          <a:p>
            <a:r>
              <a:rPr lang="en-US" b="1" dirty="0"/>
              <a:t>Business Targeting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33292-13A8-DA3B-D309-573FAF24D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31" y="1405181"/>
            <a:ext cx="5470819" cy="5343962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The best threshold for classing someone as a churn risk is also an operational problem</a:t>
            </a:r>
          </a:p>
          <a:p>
            <a:pPr lvl="1"/>
            <a:r>
              <a:rPr lang="en-US" dirty="0"/>
              <a:t>Identify the optimal trade off between % of users intervened and percent of churning users identified (recall) using approaches like maximizing F1 score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10C243-BF3E-7616-0155-C67D02BCF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6381" y="1166030"/>
            <a:ext cx="6520688" cy="4869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115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D899B-BCC0-2676-FFEF-63393CA13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FDEF3-7D94-8460-C47B-E13218024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5952" y="4987791"/>
            <a:ext cx="8834511" cy="1562308"/>
          </a:xfrm>
        </p:spPr>
        <p:txBody>
          <a:bodyPr>
            <a:normAutofit/>
          </a:bodyPr>
          <a:lstStyle/>
          <a:p>
            <a:pPr marL="457200" lvl="1" indent="0" algn="ctr">
              <a:buNone/>
            </a:pPr>
            <a:r>
              <a:rPr lang="en-US" dirty="0"/>
              <a:t>How many people can we contact within a space of time?</a:t>
            </a:r>
          </a:p>
          <a:p>
            <a:pPr marL="457200" lvl="1" indent="0" algn="ctr">
              <a:buNone/>
            </a:pPr>
            <a:r>
              <a:rPr lang="en-US" sz="1800" dirty="0" err="1"/>
              <a:t>Eg.</a:t>
            </a:r>
            <a:r>
              <a:rPr lang="en-US" sz="1800" dirty="0"/>
              <a:t> At bet365 we could contact ~5% of the user base, so the classification problem used custom metrics that identified as many possible self-excluders within the top 5% of probabilities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5759EB-47A2-D0B5-C014-4870B5479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744" y="307901"/>
            <a:ext cx="8728928" cy="431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871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D5724-830E-FE34-94C4-FDF1034D2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6151"/>
            <a:ext cx="10515600" cy="1325563"/>
          </a:xfrm>
        </p:spPr>
        <p:txBody>
          <a:bodyPr/>
          <a:lstStyle/>
          <a:p>
            <a:r>
              <a:rPr lang="en-US" b="1" dirty="0"/>
              <a:t>What Drives Churn?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54F5E-7065-5917-88ED-3AABCABE8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8065" y="3801907"/>
            <a:ext cx="7461459" cy="3056093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SHAP shows a type of importance for features within the model, so we can see what the model is using to predict churn</a:t>
            </a:r>
          </a:p>
          <a:p>
            <a:endParaRPr lang="en-US" dirty="0"/>
          </a:p>
          <a:p>
            <a:r>
              <a:rPr lang="en-US" dirty="0"/>
              <a:t>Customer with lots of days left on their contract are less likely to churn.</a:t>
            </a:r>
          </a:p>
          <a:p>
            <a:r>
              <a:rPr lang="en-US" dirty="0"/>
              <a:t>High direct debit cancellations increase likelihood to churn</a:t>
            </a:r>
          </a:p>
          <a:p>
            <a:r>
              <a:rPr lang="en-US" dirty="0"/>
              <a:t>Those who have been with UK telecoms ltd. for longer are less likely to churn</a:t>
            </a:r>
          </a:p>
          <a:p>
            <a:r>
              <a:rPr lang="en-US" dirty="0"/>
              <a:t>Low line speed and a deficit between real and contracted speed impact churn likelihood.</a:t>
            </a:r>
          </a:p>
          <a:p>
            <a:endParaRPr lang="en-US" dirty="0"/>
          </a:p>
          <a:p>
            <a:r>
              <a:rPr lang="en-US" dirty="0"/>
              <a:t>These are the features that impact the models predictions and cannot be said to the cause of churn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BF06DB-FB08-7A1D-D6D7-94D660456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76" y="1259412"/>
            <a:ext cx="4273196" cy="50849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A544544-8980-58C5-3C17-A7F045C1F1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0920" y="181029"/>
            <a:ext cx="5004882" cy="350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179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4E00F-3495-114C-FFDC-3A7A0D729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Recommendations + next steps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7588C-CF56-6C86-BCD5-682AB0F78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projects returns the deliverable of a scored customer list with probability of churn over the next 30 days</a:t>
            </a:r>
          </a:p>
          <a:p>
            <a:pPr lvl="1"/>
            <a:r>
              <a:rPr lang="en-US" dirty="0"/>
              <a:t>Priorities who to contact - High risk can be immediately outreached to</a:t>
            </a:r>
          </a:p>
          <a:p>
            <a:pPr lvl="1"/>
            <a:r>
              <a:rPr lang="en-US" dirty="0"/>
              <a:t>Risk tiers can be created and tracked over time.</a:t>
            </a:r>
          </a:p>
          <a:p>
            <a:r>
              <a:rPr lang="en-US" dirty="0"/>
              <a:t>Next steps in production: </a:t>
            </a:r>
          </a:p>
          <a:p>
            <a:pPr lvl="1"/>
            <a:r>
              <a:rPr lang="en-US" dirty="0"/>
              <a:t>A/B test: model-targeted calls vs. random sample to measure retention uplift</a:t>
            </a:r>
          </a:p>
          <a:p>
            <a:pPr lvl="1"/>
            <a:r>
              <a:rPr lang="en-US" dirty="0"/>
              <a:t>Retrain monthly with new data</a:t>
            </a:r>
          </a:p>
          <a:p>
            <a:pPr lvl="1"/>
            <a:r>
              <a:rPr lang="en-US" dirty="0"/>
              <a:t>Add complaint/fault data as additional signal</a:t>
            </a:r>
          </a:p>
          <a:p>
            <a:pPr lvl="1"/>
            <a:r>
              <a:rPr lang="en-US" dirty="0"/>
              <a:t>Consider a real-time scoring API for the CRM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11069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D7DF2-24B2-B621-CF41-E577716E8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Changes to approach with more time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1D4B5-1F57-BA61-CAB0-70C1B18AB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Exploration different churn models (</a:t>
            </a:r>
            <a:r>
              <a:rPr lang="en-US" dirty="0" err="1"/>
              <a:t>historics</a:t>
            </a:r>
            <a:r>
              <a:rPr lang="en-US" dirty="0"/>
              <a:t> period and churn period)</a:t>
            </a:r>
          </a:p>
          <a:p>
            <a:r>
              <a:rPr lang="en-US" dirty="0"/>
              <a:t>Hyperparameter tuning (</a:t>
            </a:r>
            <a:r>
              <a:rPr lang="en-US" dirty="0" err="1"/>
              <a:t>Optuna</a:t>
            </a:r>
            <a:r>
              <a:rPr lang="en-US" dirty="0"/>
              <a:t>)</a:t>
            </a:r>
          </a:p>
          <a:p>
            <a:r>
              <a:rPr lang="en-US" dirty="0"/>
              <a:t>Feature reduction</a:t>
            </a:r>
          </a:p>
          <a:p>
            <a:r>
              <a:rPr lang="en-US" dirty="0"/>
              <a:t>Time-series cross-validation (avoid data leakage across months)</a:t>
            </a:r>
          </a:p>
          <a:p>
            <a:r>
              <a:rPr lang="en-US" dirty="0"/>
              <a:t>Survival analysis (time-to-churn modelling)</a:t>
            </a:r>
          </a:p>
          <a:p>
            <a:r>
              <a:rPr lang="en-US" dirty="0"/>
              <a:t>Segment-specific models (using different products)</a:t>
            </a:r>
          </a:p>
          <a:p>
            <a:r>
              <a:rPr lang="en-US" dirty="0"/>
              <a:t>Customer lifetime value weighting (</a:t>
            </a:r>
            <a:r>
              <a:rPr lang="en-US" dirty="0" err="1"/>
              <a:t>prioritise</a:t>
            </a:r>
            <a:r>
              <a:rPr lang="en-US" dirty="0"/>
              <a:t> high-value at-risk customers)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527266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3923</TotalTime>
  <Words>752</Words>
  <Application>Microsoft Office PowerPoint</Application>
  <PresentationFormat>Widescreen</PresentationFormat>
  <Paragraphs>90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Customer Churn Prediction Model  - Prioritising Retention Outreach with Machine Learning</vt:lpstr>
      <vt:lpstr>Business Problem &amp; Objective</vt:lpstr>
      <vt:lpstr>PowerPoint Presentation</vt:lpstr>
      <vt:lpstr>Data Overview</vt:lpstr>
      <vt:lpstr>Modelling Approach</vt:lpstr>
      <vt:lpstr>Model Performance</vt:lpstr>
      <vt:lpstr>Business Targeting</vt:lpstr>
      <vt:lpstr>PowerPoint Presentation</vt:lpstr>
      <vt:lpstr>What Drives Churn?</vt:lpstr>
      <vt:lpstr>Recommendations + next steps</vt:lpstr>
      <vt:lpstr>Changes to approach with more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 Kelly</dc:creator>
  <cp:lastModifiedBy>Jack Kelly</cp:lastModifiedBy>
  <cp:revision>5</cp:revision>
  <dcterms:created xsi:type="dcterms:W3CDTF">2026-03-13T16:36:00Z</dcterms:created>
  <dcterms:modified xsi:type="dcterms:W3CDTF">2026-03-16T09:59:27Z</dcterms:modified>
</cp:coreProperties>
</file>